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567055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7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subTitle" idx="1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3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5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6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johanhrb@gmail.com" TargetMode="External"/><Relationship Id="rId5" Type="http://schemas.openxmlformats.org/officeDocument/2006/relationships/hyperlink" Target="https://www.linkedin.com/in/johan-robles-benites/" TargetMode="Externa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0000" y="2700000"/>
            <a:ext cx="1440000" cy="116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1040" y="2651040"/>
            <a:ext cx="1128960" cy="112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0000" y="2278800"/>
            <a:ext cx="1318320" cy="186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60000" y="2594160"/>
            <a:ext cx="1185840" cy="118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38320" y="2594160"/>
            <a:ext cx="1185840" cy="118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2160000" y="540000"/>
            <a:ext cx="631584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De la Intercepción al Insight: Integrando IA, MCP y Burp Suite para el análisis de ataques ofensivo</a:t>
            </a:r>
            <a:endParaRPr sz="2800" b="1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800000" y="4500000"/>
            <a:ext cx="6095520" cy="87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Robles Benites Johan Henry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2760" y="2880000"/>
            <a:ext cx="1767240" cy="21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5900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 rotWithShape="1">
          <a:blip r:embed="rId5">
            <a:alphaModFix/>
          </a:blip>
          <a:srcRect l="4869" t="18159"/>
          <a:stretch/>
        </p:blipFill>
        <p:spPr>
          <a:xfrm>
            <a:off x="4320000" y="0"/>
            <a:ext cx="351432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1065" y="0"/>
            <a:ext cx="10069560" cy="78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b="1" i="0" u="none" strike="noStrike" cap="none" dirty="0">
                <a:solidFill>
                  <a:srgbClr val="FFFFD7"/>
                </a:solidFill>
                <a:latin typeface="Calibri"/>
                <a:ea typeface="Calibri"/>
                <a:cs typeface="Calibri"/>
                <a:sym typeface="Calibri"/>
              </a:rPr>
              <a:t># WHOAMI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0" y="1361880"/>
            <a:ext cx="7560000" cy="3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s-ES" sz="2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Especialista en Seguridad Ofensiva, Seguridad en la nube y Seguridad de aplicaciones.</a:t>
            </a: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61"/>
              </a:spcBef>
              <a:spcAft>
                <a:spcPts val="0"/>
              </a:spcAft>
              <a:buNone/>
            </a:pP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96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s-ES" sz="2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años de Experiencia en Red </a:t>
            </a:r>
            <a:r>
              <a:rPr lang="es-ES" sz="2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lang="es-ES" sz="2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ciberseguridad en el sector financiero peruano.</a:t>
            </a: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61"/>
              </a:spcBef>
              <a:spcAft>
                <a:spcPts val="0"/>
              </a:spcAft>
              <a:buNone/>
            </a:pP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96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s-ES" sz="2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Candidato a Máster en Ciberseguridad en la UNIR.</a:t>
            </a: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61"/>
              </a:spcBef>
              <a:spcAft>
                <a:spcPts val="0"/>
              </a:spcAft>
              <a:buNone/>
            </a:pP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96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s-ES" sz="2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Entusiasta de desarrollo de soluciones con IA enfocadas a Ciberseguridad.</a:t>
            </a: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564680" y="1634760"/>
            <a:ext cx="2335320" cy="250524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6335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dist="291960" dir="540000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80000" y="3755880"/>
            <a:ext cx="384120" cy="38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5800" y="4140000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6840000" y="4191120"/>
            <a:ext cx="3240000" cy="2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0000" y="4680000"/>
            <a:ext cx="471600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6840000" y="4781880"/>
            <a:ext cx="1409040" cy="25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2829240" y="1095840"/>
            <a:ext cx="5760000" cy="45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¿Porque se necesitar integrar IA con Burpsuite?</a:t>
            </a:r>
            <a:endParaRPr sz="2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865240" y="1800000"/>
            <a:ext cx="5054760" cy="45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LLMs y MCP Basics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865240" y="2427480"/>
            <a:ext cx="5054760" cy="45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Burpsuite y su funcionamiento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2865240" y="3240000"/>
            <a:ext cx="576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 e Integración del MCP server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865240" y="3960000"/>
            <a:ext cx="5054760" cy="45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Demostración de uso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10800" y="0"/>
            <a:ext cx="100692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D7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981080" y="1080000"/>
            <a:ext cx="89892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981080" y="1800000"/>
            <a:ext cx="89892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981080" y="2520000"/>
            <a:ext cx="89892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981080" y="3240000"/>
            <a:ext cx="89892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981080" y="3960000"/>
            <a:ext cx="89892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10800" y="0"/>
            <a:ext cx="100692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01. ¿Porque se necesitar integrar IA con Burpsuite?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0" y="1449360"/>
            <a:ext cx="6480000" cy="359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web modernas generan cientos o miles de requests y responses para poder analizarlos y ver sus relaciones.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752"/>
              </a:spcBef>
              <a:spcAft>
                <a:spcPts val="0"/>
              </a:spcAft>
              <a:buNone/>
            </a:pP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119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scanner activo y las herramientas de fuzzing (Intruder, extensiones) producen mucho ruido y falsos positivos.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752"/>
              </a:spcBef>
              <a:spcAft>
                <a:spcPts val="0"/>
              </a:spcAft>
              <a:buNone/>
            </a:pP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119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LLMs vía MCP pueden leer el tráfico en tiempo real, sugerir payloads y vectores, priorizar hallazgos y guiar el siguiente paso sin salir del flujo de Burp.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752"/>
              </a:spcBef>
              <a:spcAft>
                <a:spcPts val="0"/>
              </a:spcAft>
              <a:buNone/>
            </a:pP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None/>
            </a:pP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0000" y="1620000"/>
            <a:ext cx="3240000" cy="34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10800" y="0"/>
            <a:ext cx="100692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02. LLMs y MCP Basics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190440" y="900000"/>
            <a:ext cx="4849560" cy="28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LLM: large language model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s-E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IA entrenado con enormes cantidades de texto para predecir y generar lenguaje.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247830" algn="just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s-E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"Solo" razona y genera texto: no ejecuta acciones ni accede a datos por sí mismo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247830" algn="just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just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s-E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Asistentes como ChatGPT, Claude o Gemini son la interfaz; el LLM (GPT, Claude, Gemini) es el motor detrás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8" descr="modo: cerebró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3080" y="3600000"/>
            <a:ext cx="3526920" cy="198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60000" y="3780000"/>
            <a:ext cx="3600000" cy="178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5220000" y="926280"/>
            <a:ext cx="4860000" cy="289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MCP: Model Context Protocol 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4742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Noto Sans Symbols"/>
              <a:buChar char="●"/>
            </a:pPr>
            <a:r>
              <a:rPr lang="es-ES" sz="15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Estándar abierto (creado por Anthropic, nov. 2024) que conecta un LLM con herramientas y datos externos</a:t>
            </a: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7313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Noto Sans Symbols"/>
              <a:buNone/>
            </a:pP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7313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Noto Sans Symbols"/>
              <a:buNone/>
            </a:pP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Noto Sans Symbols"/>
              <a:buChar char="●"/>
            </a:pPr>
            <a:r>
              <a:rPr lang="es-ES" sz="15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da "manos" al cerebro: leer archivos, consultar APIs, ejecutar comandos, hablar con otras herramientas</a:t>
            </a: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7313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Noto Sans Symbols"/>
              <a:buNone/>
            </a:pP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7313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Noto Sans Symbols"/>
              <a:buNone/>
            </a:pP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Noto Sans Symbols"/>
              <a:buChar char="●"/>
            </a:pPr>
            <a:r>
              <a:rPr lang="es-ES" sz="15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 (el asistente) ↔ Servidor MCP ↔la herramienta</a:t>
            </a:r>
            <a:endParaRPr sz="15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10800" y="0"/>
            <a:ext cx="100692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03. Burpsuite y su funcionamiento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5">
            <a:alphaModFix/>
          </a:blip>
          <a:srcRect t="5766" b="11543"/>
          <a:stretch/>
        </p:blipFill>
        <p:spPr>
          <a:xfrm>
            <a:off x="201960" y="900000"/>
            <a:ext cx="969804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201960" y="2880000"/>
            <a:ext cx="4838040" cy="39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Funcionalidades incorporadas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72000" y="3275280"/>
            <a:ext cx="3240000" cy="2304720"/>
          </a:xfrm>
          <a:prstGeom prst="roundRect">
            <a:avLst>
              <a:gd name="adj" fmla="val 8000"/>
            </a:avLst>
          </a:prstGeom>
          <a:solidFill>
            <a:srgbClr val="0D131B"/>
          </a:solidFill>
          <a:ln w="12600" cap="flat" cmpd="sng">
            <a:solidFill>
              <a:srgbClr val="81ACA6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252000" y="3365640"/>
            <a:ext cx="484200" cy="180000"/>
          </a:xfrm>
          <a:prstGeom prst="roundRect">
            <a:avLst>
              <a:gd name="adj" fmla="val 8000"/>
            </a:avLst>
          </a:prstGeom>
          <a:solidFill>
            <a:srgbClr val="00DCEB"/>
          </a:solidFill>
          <a:ln w="12600" cap="flat" cmpd="sng">
            <a:solidFill>
              <a:srgbClr val="00DCEB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2000" y="4352760"/>
            <a:ext cx="2880000" cy="104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792000" y="3311280"/>
            <a:ext cx="2340000" cy="28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Extensiones con BApps</a:t>
            </a:r>
            <a:endParaRPr sz="13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02680" y="3600000"/>
            <a:ext cx="3109320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BApps amplía Burp con funciones especializadas: descubrimiento, automatización y MCPs.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3456000" y="3275280"/>
            <a:ext cx="3240000" cy="2304720"/>
          </a:xfrm>
          <a:prstGeom prst="roundRect">
            <a:avLst>
              <a:gd name="adj" fmla="val 8000"/>
            </a:avLst>
          </a:prstGeom>
          <a:solidFill>
            <a:srgbClr val="0D131B"/>
          </a:solidFill>
          <a:ln w="12600" cap="flat" cmpd="sng">
            <a:solidFill>
              <a:srgbClr val="FFA6A6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6804000" y="3276000"/>
            <a:ext cx="3240000" cy="2304720"/>
          </a:xfrm>
          <a:prstGeom prst="roundRect">
            <a:avLst>
              <a:gd name="adj" fmla="val 8000"/>
            </a:avLst>
          </a:prstGeom>
          <a:solidFill>
            <a:srgbClr val="0D131B"/>
          </a:solidFill>
          <a:ln w="12600" cap="flat" cmpd="sng">
            <a:solidFill>
              <a:srgbClr val="81ACA6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3636360" y="3365640"/>
            <a:ext cx="484200" cy="180000"/>
          </a:xfrm>
          <a:prstGeom prst="roundRect">
            <a:avLst>
              <a:gd name="adj" fmla="val 8000"/>
            </a:avLst>
          </a:prstGeom>
          <a:solidFill>
            <a:srgbClr val="00DCEB"/>
          </a:solidFill>
          <a:ln w="12600" cap="flat" cmpd="sng">
            <a:solidFill>
              <a:srgbClr val="00DCEB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984720" y="3365640"/>
            <a:ext cx="484200" cy="180000"/>
          </a:xfrm>
          <a:prstGeom prst="roundRect">
            <a:avLst>
              <a:gd name="adj" fmla="val 8000"/>
            </a:avLst>
          </a:prstGeom>
          <a:solidFill>
            <a:srgbClr val="00DCEB"/>
          </a:solidFill>
          <a:ln w="12600" cap="flat" cmpd="sng">
            <a:solidFill>
              <a:srgbClr val="00DCEB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104000" y="3311280"/>
            <a:ext cx="2592000" cy="48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Envío y modificación de peticiones</a:t>
            </a:r>
            <a:endParaRPr sz="13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15400" y="4356000"/>
            <a:ext cx="31446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3600000" y="3798360"/>
            <a:ext cx="3060000" cy="55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Una petición puede alimentar otras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herramientas. Facilita iterar ataques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7416000" y="3285360"/>
            <a:ext cx="2580480" cy="31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Decoder para entender datos</a:t>
            </a:r>
            <a:endParaRPr sz="13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6840000" y="3780000"/>
            <a:ext cx="3204000" cy="41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Ideal para inspeccionar rápidamente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valores que aparecen durante una prueba.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40000" y="4397040"/>
            <a:ext cx="3204000" cy="104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10800" y="0"/>
            <a:ext cx="1006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Configuración e Integración del MCP server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360000" y="720000"/>
            <a:ext cx="6840000" cy="39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la Integración con Claude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360000" y="1080000"/>
            <a:ext cx="1620000" cy="3780000"/>
          </a:xfrm>
          <a:prstGeom prst="roundRect">
            <a:avLst>
              <a:gd name="adj" fmla="val 8000"/>
            </a:avLst>
          </a:prstGeom>
          <a:solidFill>
            <a:srgbClr val="0D131B"/>
          </a:solidFill>
          <a:ln w="12600" cap="flat" cmpd="sng">
            <a:solidFill>
              <a:srgbClr val="81ACA6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2880000" y="1080000"/>
            <a:ext cx="1559880" cy="3780000"/>
          </a:xfrm>
          <a:prstGeom prst="roundRect">
            <a:avLst>
              <a:gd name="adj" fmla="val 8000"/>
            </a:avLst>
          </a:prstGeom>
          <a:solidFill>
            <a:srgbClr val="0D131B"/>
          </a:solidFill>
          <a:ln w="12600" cap="flat" cmpd="sng">
            <a:solidFill>
              <a:srgbClr val="81ACA6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5460120" y="1080000"/>
            <a:ext cx="1440000" cy="3780000"/>
          </a:xfrm>
          <a:prstGeom prst="roundRect">
            <a:avLst>
              <a:gd name="adj" fmla="val 8000"/>
            </a:avLst>
          </a:prstGeom>
          <a:solidFill>
            <a:srgbClr val="0D131B"/>
          </a:solidFill>
          <a:ln w="12600" cap="flat" cmpd="sng">
            <a:solidFill>
              <a:srgbClr val="81ACA6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7920000" y="1080000"/>
            <a:ext cx="1800000" cy="3780000"/>
          </a:xfrm>
          <a:prstGeom prst="roundRect">
            <a:avLst>
              <a:gd name="adj" fmla="val 8000"/>
            </a:avLst>
          </a:prstGeom>
          <a:solidFill>
            <a:srgbClr val="0D131B"/>
          </a:solidFill>
          <a:ln w="12600" cap="flat" cmpd="sng">
            <a:solidFill>
              <a:srgbClr val="81ACA6"/>
            </a:solidFill>
            <a:prstDash val="solid"/>
            <a:round/>
            <a:headEnd type="none" w="sm" len="sm"/>
            <a:tailEnd type="none" w="sm" len="sm"/>
          </a:ln>
          <a:effectLst>
            <a:outerShdw dist="2304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2160000" y="2556720"/>
            <a:ext cx="540000" cy="900000"/>
          </a:xfrm>
          <a:custGeom>
            <a:avLst/>
            <a:gdLst/>
            <a:ahLst/>
            <a:cxnLst/>
            <a:rect l="l" t="t" r="r" b="b"/>
            <a:pathLst>
              <a:path w="1502" h="2502" extrusionOk="0">
                <a:moveTo>
                  <a:pt x="0" y="625"/>
                </a:moveTo>
                <a:lnTo>
                  <a:pt x="1125" y="625"/>
                </a:lnTo>
                <a:lnTo>
                  <a:pt x="1125" y="0"/>
                </a:lnTo>
                <a:lnTo>
                  <a:pt x="1501" y="1250"/>
                </a:lnTo>
                <a:lnTo>
                  <a:pt x="1125" y="2501"/>
                </a:lnTo>
                <a:lnTo>
                  <a:pt x="1125" y="1875"/>
                </a:lnTo>
                <a:lnTo>
                  <a:pt x="0" y="1875"/>
                </a:lnTo>
                <a:lnTo>
                  <a:pt x="0" y="625"/>
                </a:lnTo>
              </a:path>
            </a:pathLst>
          </a:custGeom>
          <a:solidFill>
            <a:srgbClr val="8E86AE"/>
          </a:solidFill>
          <a:ln w="9525" cap="flat" cmpd="sng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20"/>
          <p:cNvSpPr/>
          <p:nvPr/>
        </p:nvSpPr>
        <p:spPr>
          <a:xfrm>
            <a:off x="4644000" y="2556720"/>
            <a:ext cx="540000" cy="900000"/>
          </a:xfrm>
          <a:custGeom>
            <a:avLst/>
            <a:gdLst/>
            <a:ahLst/>
            <a:cxnLst/>
            <a:rect l="l" t="t" r="r" b="b"/>
            <a:pathLst>
              <a:path w="1502" h="2502" extrusionOk="0">
                <a:moveTo>
                  <a:pt x="0" y="625"/>
                </a:moveTo>
                <a:lnTo>
                  <a:pt x="1125" y="625"/>
                </a:lnTo>
                <a:lnTo>
                  <a:pt x="1125" y="0"/>
                </a:lnTo>
                <a:lnTo>
                  <a:pt x="1501" y="1250"/>
                </a:lnTo>
                <a:lnTo>
                  <a:pt x="1125" y="2501"/>
                </a:lnTo>
                <a:lnTo>
                  <a:pt x="1125" y="1875"/>
                </a:lnTo>
                <a:lnTo>
                  <a:pt x="0" y="1875"/>
                </a:lnTo>
                <a:lnTo>
                  <a:pt x="0" y="625"/>
                </a:lnTo>
              </a:path>
            </a:pathLst>
          </a:custGeom>
          <a:solidFill>
            <a:srgbClr val="8E86AE"/>
          </a:solidFill>
          <a:ln w="9525" cap="flat" cmpd="sng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20"/>
          <p:cNvSpPr/>
          <p:nvPr/>
        </p:nvSpPr>
        <p:spPr>
          <a:xfrm>
            <a:off x="7164000" y="2556720"/>
            <a:ext cx="540000" cy="900000"/>
          </a:xfrm>
          <a:custGeom>
            <a:avLst/>
            <a:gdLst/>
            <a:ahLst/>
            <a:cxnLst/>
            <a:rect l="l" t="t" r="r" b="b"/>
            <a:pathLst>
              <a:path w="1502" h="2502" extrusionOk="0">
                <a:moveTo>
                  <a:pt x="0" y="625"/>
                </a:moveTo>
                <a:lnTo>
                  <a:pt x="1125" y="625"/>
                </a:lnTo>
                <a:lnTo>
                  <a:pt x="1125" y="0"/>
                </a:lnTo>
                <a:lnTo>
                  <a:pt x="1501" y="1250"/>
                </a:lnTo>
                <a:lnTo>
                  <a:pt x="1125" y="2501"/>
                </a:lnTo>
                <a:lnTo>
                  <a:pt x="1125" y="1875"/>
                </a:lnTo>
                <a:lnTo>
                  <a:pt x="0" y="1875"/>
                </a:lnTo>
                <a:lnTo>
                  <a:pt x="0" y="625"/>
                </a:lnTo>
              </a:path>
            </a:pathLst>
          </a:custGeom>
          <a:solidFill>
            <a:srgbClr val="8E86AE"/>
          </a:solidFill>
          <a:ln w="9525" cap="flat" cmpd="sng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20"/>
          <p:cNvSpPr/>
          <p:nvPr/>
        </p:nvSpPr>
        <p:spPr>
          <a:xfrm>
            <a:off x="540000" y="1127160"/>
            <a:ext cx="180000" cy="180000"/>
          </a:xfrm>
          <a:prstGeom prst="ellipse">
            <a:avLst/>
          </a:prstGeom>
          <a:solidFill>
            <a:srgbClr val="2A6099"/>
          </a:solidFill>
          <a:ln w="9525" cap="flat" cmpd="sng">
            <a:solidFill>
              <a:srgbClr val="5530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 b="0" strike="noStrike">
              <a:solidFill>
                <a:srgbClr val="FFFF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720000" y="1080000"/>
            <a:ext cx="118800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latin typeface="Arial"/>
                <a:ea typeface="Arial"/>
                <a:cs typeface="Arial"/>
                <a:sym typeface="Arial"/>
              </a:rPr>
              <a:t>Atacante</a:t>
            </a:r>
            <a:endParaRPr sz="13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952000" y="1127520"/>
            <a:ext cx="180000" cy="180000"/>
          </a:xfrm>
          <a:prstGeom prst="ellipse">
            <a:avLst/>
          </a:prstGeom>
          <a:solidFill>
            <a:srgbClr val="2A6099"/>
          </a:solidFill>
          <a:ln w="9525" cap="flat" cmpd="sng">
            <a:solidFill>
              <a:srgbClr val="5530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 b="0" strike="noStrike">
              <a:solidFill>
                <a:srgbClr val="FFFF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132000" y="1080360"/>
            <a:ext cx="118800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latin typeface="Arial"/>
                <a:ea typeface="Arial"/>
                <a:cs typeface="Arial"/>
                <a:sym typeface="Arial"/>
              </a:rPr>
              <a:t>Claude (LLM)</a:t>
            </a:r>
            <a:endParaRPr sz="13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508000" y="1127880"/>
            <a:ext cx="180000" cy="180000"/>
          </a:xfrm>
          <a:prstGeom prst="ellipse">
            <a:avLst/>
          </a:prstGeom>
          <a:solidFill>
            <a:srgbClr val="2A6099"/>
          </a:solidFill>
          <a:ln w="9525" cap="flat" cmpd="sng">
            <a:solidFill>
              <a:srgbClr val="5530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 b="0" strike="noStrike">
              <a:solidFill>
                <a:srgbClr val="FFFF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688000" y="1080720"/>
            <a:ext cx="1332000" cy="38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0" strike="noStrike">
                <a:latin typeface="Arial"/>
                <a:ea typeface="Arial"/>
                <a:cs typeface="Arial"/>
                <a:sym typeface="Arial"/>
              </a:rPr>
              <a:t>Burp MCP Server</a:t>
            </a:r>
            <a:endParaRPr sz="105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7992000" y="1128240"/>
            <a:ext cx="180000" cy="180000"/>
          </a:xfrm>
          <a:prstGeom prst="ellipse">
            <a:avLst/>
          </a:prstGeom>
          <a:solidFill>
            <a:srgbClr val="2A6099"/>
          </a:solidFill>
          <a:ln w="9525" cap="flat" cmpd="sng">
            <a:solidFill>
              <a:srgbClr val="5530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 b="0" strike="noStrike">
              <a:solidFill>
                <a:srgbClr val="FFFF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8172000" y="1081080"/>
            <a:ext cx="118800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latin typeface="Arial"/>
                <a:ea typeface="Arial"/>
                <a:cs typeface="Arial"/>
                <a:sym typeface="Arial"/>
              </a:rPr>
              <a:t>BurpSuite</a:t>
            </a:r>
            <a:endParaRPr sz="13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00" y="1367280"/>
            <a:ext cx="792720" cy="79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98320" y="1391040"/>
            <a:ext cx="589680" cy="58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88000" y="133488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80000" y="1333440"/>
            <a:ext cx="803160" cy="80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360000" y="2340000"/>
            <a:ext cx="1620000" cy="22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Realiza un primer escaneo de peticiones de forma manual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2183"/>
              </a:spcBef>
              <a:spcAft>
                <a:spcPts val="0"/>
              </a:spcAft>
              <a:buNone/>
            </a:pP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2183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Ingresa credenciales de la web en caso que tengan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880000" y="2039760"/>
            <a:ext cx="1620000" cy="25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Entiende las indicaciones del atacante y decide qué tool o skill usar.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just" rtl="0">
              <a:spcBef>
                <a:spcPts val="2183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Send_request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just" rtl="0">
              <a:spcBef>
                <a:spcPts val="2183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get_http_history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just" rtl="0">
              <a:spcBef>
                <a:spcPts val="2183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Base64_encode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just" rtl="0">
              <a:spcBef>
                <a:spcPts val="2183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create_repeater_tab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460120" y="2437920"/>
            <a:ext cx="1440000" cy="22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Recibe las llamadas con las tools y las envía a Burpsuite.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2183"/>
              </a:spcBef>
              <a:spcAft>
                <a:spcPts val="0"/>
              </a:spcAft>
              <a:buNone/>
            </a:pPr>
            <a:endParaRPr sz="12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2183"/>
              </a:spcBef>
              <a:spcAft>
                <a:spcPts val="0"/>
              </a:spcAft>
              <a:buNone/>
            </a:pPr>
            <a:r>
              <a:rPr lang="es-ES" sz="12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Permite la comunicación entre Claude y BurpSuite.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920000" y="2340000"/>
            <a:ext cx="1800000" cy="21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216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"/>
              <a:buFont typeface="Noto Sans Symbols"/>
              <a:buChar char="●"/>
            </a:pPr>
            <a:r>
              <a:rPr lang="es-ES" sz="11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Intercepta Request.</a:t>
            </a:r>
            <a:endParaRPr sz="11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8456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"/>
              <a:buFont typeface="Noto Sans Symbols"/>
              <a:buNone/>
            </a:pPr>
            <a:endParaRPr sz="11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"/>
              <a:buFont typeface="Noto Sans Symbols"/>
              <a:buChar char="●"/>
            </a:pPr>
            <a:r>
              <a:rPr lang="es-ES" sz="11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Envía peticiones al objetivo.</a:t>
            </a:r>
            <a:endParaRPr sz="11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8456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"/>
              <a:buFont typeface="Noto Sans Symbols"/>
              <a:buNone/>
            </a:pPr>
            <a:endParaRPr sz="11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"/>
              <a:buFont typeface="Noto Sans Symbols"/>
              <a:buChar char="●"/>
            </a:pPr>
            <a:r>
              <a:rPr lang="es-ES" sz="11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Almacena en historial de peticiones.</a:t>
            </a:r>
            <a:endParaRPr sz="11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8456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"/>
              <a:buFont typeface="Noto Sans Symbols"/>
              <a:buNone/>
            </a:pPr>
            <a:endParaRPr sz="11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"/>
              <a:buFont typeface="Noto Sans Symbols"/>
              <a:buChar char="●"/>
            </a:pPr>
            <a:r>
              <a:rPr lang="es-ES" sz="11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Permite modificar peticiones.</a:t>
            </a:r>
            <a:endParaRPr sz="11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7280" y="3925440"/>
            <a:ext cx="3492720" cy="2014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0800" y="0"/>
            <a:ext cx="1006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Configuración e Integración del MCP server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180000" y="720000"/>
            <a:ext cx="6840000" cy="39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 del MCP server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000" y="2779200"/>
            <a:ext cx="4140000" cy="11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0000" y="1440000"/>
            <a:ext cx="3960000" cy="7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76960" y="1080000"/>
            <a:ext cx="3623040" cy="4409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360000" y="1115280"/>
            <a:ext cx="180000" cy="180000"/>
          </a:xfrm>
          <a:prstGeom prst="ellipse">
            <a:avLst/>
          </a:prstGeom>
          <a:solidFill>
            <a:srgbClr val="2A6099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 b="0" strike="noStrike">
              <a:solidFill>
                <a:srgbClr val="FFFF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40000" y="1080360"/>
            <a:ext cx="378000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Instalación de la extensión de MCP de </a:t>
            </a:r>
            <a:r>
              <a:rPr lang="es-ES" sz="1300" b="0" strike="noStrik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BurpSuite</a:t>
            </a:r>
            <a:endParaRPr sz="13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000" y="4050000"/>
            <a:ext cx="41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5040000" y="840240"/>
            <a:ext cx="180000" cy="180000"/>
          </a:xfrm>
          <a:prstGeom prst="ellipse">
            <a:avLst/>
          </a:prstGeom>
          <a:solidFill>
            <a:srgbClr val="2A6099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 b="0" strike="noStrike">
              <a:solidFill>
                <a:srgbClr val="FFFF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220000" y="805320"/>
            <a:ext cx="378000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Configuración de Target y instalación en Claude</a:t>
            </a:r>
            <a:endParaRPr sz="13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80000" y="2460240"/>
            <a:ext cx="180000" cy="180000"/>
          </a:xfrm>
          <a:prstGeom prst="ellipse">
            <a:avLst/>
          </a:prstGeom>
          <a:solidFill>
            <a:srgbClr val="2A6099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>
                <a:solidFill>
                  <a:srgbClr val="FFFFD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 b="0" strike="noStrike">
              <a:solidFill>
                <a:srgbClr val="FFFF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60000" y="2425320"/>
            <a:ext cx="378000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Validación de que si esta instalado el MCP</a:t>
            </a:r>
            <a:endParaRPr sz="13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 rotWithShape="1">
          <a:blip r:embed="rId9">
            <a:alphaModFix/>
          </a:blip>
          <a:srcRect l="30236" t="22167" r="35245"/>
          <a:stretch/>
        </p:blipFill>
        <p:spPr>
          <a:xfrm>
            <a:off x="9000000" y="4029120"/>
            <a:ext cx="1221840" cy="1640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0800" y="0"/>
            <a:ext cx="1006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Configuración e Integración del MCP server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60000" y="1255320"/>
            <a:ext cx="4680000" cy="115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Entonces… ¿Ya podemos dejar que la IA use burpsuite para hacking Web?</a:t>
            </a:r>
            <a:endParaRPr sz="28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00" y="2611440"/>
            <a:ext cx="3238200" cy="242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20000" y="3853080"/>
            <a:ext cx="1260000" cy="181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27240" y="1725840"/>
            <a:ext cx="3092760" cy="3674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120000" y="1080000"/>
            <a:ext cx="1980000" cy="64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Aún ¡No!</a:t>
            </a:r>
            <a:endParaRPr sz="28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10800" y="0"/>
            <a:ext cx="100692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Configuración e Integración del MCP server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180000" y="1044720"/>
            <a:ext cx="6840000" cy="39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de los archivos del agente IA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0000" y="2160000"/>
            <a:ext cx="324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0000" y="4320000"/>
            <a:ext cx="32400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 rotWithShape="1">
          <a:blip r:embed="rId7">
            <a:alphaModFix/>
          </a:blip>
          <a:srcRect t="4762" r="20279"/>
          <a:stretch/>
        </p:blipFill>
        <p:spPr>
          <a:xfrm>
            <a:off x="271080" y="1505520"/>
            <a:ext cx="2428560" cy="407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/>
          <p:nvPr/>
        </p:nvSpPr>
        <p:spPr>
          <a:xfrm>
            <a:off x="2700000" y="1872000"/>
            <a:ext cx="180000" cy="360000"/>
          </a:xfrm>
          <a:custGeom>
            <a:avLst/>
            <a:gdLst/>
            <a:ahLst/>
            <a:cxnLst/>
            <a:rect l="l" t="t" r="r" b="b"/>
            <a:pathLst>
              <a:path w="502" h="1002" extrusionOk="0">
                <a:moveTo>
                  <a:pt x="0" y="0"/>
                </a:moveTo>
                <a:cubicBezTo>
                  <a:pt x="125" y="0"/>
                  <a:pt x="250" y="16"/>
                  <a:pt x="250" y="32"/>
                </a:cubicBezTo>
                <a:lnTo>
                  <a:pt x="250" y="451"/>
                </a:lnTo>
                <a:cubicBezTo>
                  <a:pt x="250" y="467"/>
                  <a:pt x="375" y="483"/>
                  <a:pt x="501" y="483"/>
                </a:cubicBezTo>
                <a:cubicBezTo>
                  <a:pt x="375" y="483"/>
                  <a:pt x="250" y="499"/>
                  <a:pt x="250" y="515"/>
                </a:cubicBezTo>
                <a:lnTo>
                  <a:pt x="250" y="968"/>
                </a:lnTo>
                <a:cubicBezTo>
                  <a:pt x="250" y="984"/>
                  <a:pt x="125" y="1001"/>
                  <a:pt x="0" y="1001"/>
                </a:cubicBezTo>
              </a:path>
            </a:pathLst>
          </a:custGeom>
          <a:noFill/>
          <a:ln w="126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972000" y="1872000"/>
            <a:ext cx="1656360" cy="360"/>
          </a:xfrm>
          <a:custGeom>
            <a:avLst/>
            <a:gdLst/>
            <a:ahLst/>
            <a:cxnLst/>
            <a:rect l="l" t="t" r="r" b="b"/>
            <a:pathLst>
              <a:path w="4601" h="1" extrusionOk="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19075" cap="flat" cmpd="sng">
            <a:solidFill>
              <a:srgbClr val="3465A4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25" name="Google Shape;225;p23"/>
          <p:cNvSpPr/>
          <p:nvPr/>
        </p:nvSpPr>
        <p:spPr>
          <a:xfrm>
            <a:off x="972000" y="2232000"/>
            <a:ext cx="1656360" cy="360"/>
          </a:xfrm>
          <a:custGeom>
            <a:avLst/>
            <a:gdLst/>
            <a:ahLst/>
            <a:cxnLst/>
            <a:rect l="l" t="t" r="r" b="b"/>
            <a:pathLst>
              <a:path w="4601" h="1" extrusionOk="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19075" cap="flat" cmpd="sng">
            <a:solidFill>
              <a:srgbClr val="3465A4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26" name="Google Shape;226;p23"/>
          <p:cNvSpPr/>
          <p:nvPr/>
        </p:nvSpPr>
        <p:spPr>
          <a:xfrm>
            <a:off x="972000" y="3816000"/>
            <a:ext cx="1656360" cy="360"/>
          </a:xfrm>
          <a:custGeom>
            <a:avLst/>
            <a:gdLst/>
            <a:ahLst/>
            <a:cxnLst/>
            <a:rect l="l" t="t" r="r" b="b"/>
            <a:pathLst>
              <a:path w="4601" h="1" extrusionOk="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19075" cap="flat" cmpd="sng">
            <a:solidFill>
              <a:srgbClr val="3465A4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27" name="Google Shape;227;p23"/>
          <p:cNvSpPr/>
          <p:nvPr/>
        </p:nvSpPr>
        <p:spPr>
          <a:xfrm>
            <a:off x="972000" y="4392000"/>
            <a:ext cx="1656360" cy="360"/>
          </a:xfrm>
          <a:custGeom>
            <a:avLst/>
            <a:gdLst/>
            <a:ahLst/>
            <a:cxnLst/>
            <a:rect l="l" t="t" r="r" b="b"/>
            <a:pathLst>
              <a:path w="4601" h="1" extrusionOk="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19075" cap="flat" cmpd="sng">
            <a:solidFill>
              <a:srgbClr val="3465A4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28" name="Google Shape;228;p23"/>
          <p:cNvSpPr/>
          <p:nvPr/>
        </p:nvSpPr>
        <p:spPr>
          <a:xfrm>
            <a:off x="972000" y="4968000"/>
            <a:ext cx="1656360" cy="360"/>
          </a:xfrm>
          <a:custGeom>
            <a:avLst/>
            <a:gdLst/>
            <a:ahLst/>
            <a:cxnLst/>
            <a:rect l="l" t="t" r="r" b="b"/>
            <a:pathLst>
              <a:path w="4601" h="1" extrusionOk="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19075" cap="flat" cmpd="sng">
            <a:solidFill>
              <a:srgbClr val="3465A4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29" name="Google Shape;229;p23"/>
          <p:cNvSpPr/>
          <p:nvPr/>
        </p:nvSpPr>
        <p:spPr>
          <a:xfrm>
            <a:off x="972000" y="5508000"/>
            <a:ext cx="1656360" cy="360"/>
          </a:xfrm>
          <a:custGeom>
            <a:avLst/>
            <a:gdLst/>
            <a:ahLst/>
            <a:cxnLst/>
            <a:rect l="l" t="t" r="r" b="b"/>
            <a:pathLst>
              <a:path w="4601" h="1" extrusionOk="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19075" cap="flat" cmpd="sng">
            <a:solidFill>
              <a:srgbClr val="3465A4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30" name="Google Shape;230;p23"/>
          <p:cNvSpPr/>
          <p:nvPr/>
        </p:nvSpPr>
        <p:spPr>
          <a:xfrm>
            <a:off x="2699640" y="2268000"/>
            <a:ext cx="180000" cy="1548000"/>
          </a:xfrm>
          <a:custGeom>
            <a:avLst/>
            <a:gdLst/>
            <a:ahLst/>
            <a:cxnLst/>
            <a:rect l="l" t="t" r="r" b="b"/>
            <a:pathLst>
              <a:path w="502" h="4302" extrusionOk="0">
                <a:moveTo>
                  <a:pt x="0" y="0"/>
                </a:moveTo>
                <a:cubicBezTo>
                  <a:pt x="125" y="0"/>
                  <a:pt x="250" y="68"/>
                  <a:pt x="250" y="137"/>
                </a:cubicBezTo>
                <a:lnTo>
                  <a:pt x="250" y="1939"/>
                </a:lnTo>
                <a:cubicBezTo>
                  <a:pt x="250" y="2008"/>
                  <a:pt x="375" y="2077"/>
                  <a:pt x="501" y="2077"/>
                </a:cubicBezTo>
                <a:cubicBezTo>
                  <a:pt x="375" y="2077"/>
                  <a:pt x="250" y="2146"/>
                  <a:pt x="250" y="2214"/>
                </a:cubicBezTo>
                <a:lnTo>
                  <a:pt x="250" y="4163"/>
                </a:lnTo>
                <a:cubicBezTo>
                  <a:pt x="250" y="4232"/>
                  <a:pt x="125" y="4301"/>
                  <a:pt x="0" y="4301"/>
                </a:cubicBezTo>
              </a:path>
            </a:pathLst>
          </a:custGeom>
          <a:noFill/>
          <a:ln w="126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2700000" y="3852000"/>
            <a:ext cx="180000" cy="504000"/>
          </a:xfrm>
          <a:custGeom>
            <a:avLst/>
            <a:gdLst/>
            <a:ahLst/>
            <a:cxnLst/>
            <a:rect l="l" t="t" r="r" b="b"/>
            <a:pathLst>
              <a:path w="502" h="1401" extrusionOk="0">
                <a:moveTo>
                  <a:pt x="0" y="0"/>
                </a:moveTo>
                <a:cubicBezTo>
                  <a:pt x="125" y="0"/>
                  <a:pt x="250" y="22"/>
                  <a:pt x="250" y="44"/>
                </a:cubicBezTo>
                <a:lnTo>
                  <a:pt x="250" y="631"/>
                </a:lnTo>
                <a:cubicBezTo>
                  <a:pt x="250" y="654"/>
                  <a:pt x="375" y="676"/>
                  <a:pt x="501" y="676"/>
                </a:cubicBezTo>
                <a:cubicBezTo>
                  <a:pt x="375" y="676"/>
                  <a:pt x="250" y="699"/>
                  <a:pt x="250" y="721"/>
                </a:cubicBezTo>
                <a:lnTo>
                  <a:pt x="250" y="1356"/>
                </a:lnTo>
                <a:cubicBezTo>
                  <a:pt x="250" y="1378"/>
                  <a:pt x="125" y="1400"/>
                  <a:pt x="0" y="1400"/>
                </a:cubicBezTo>
              </a:path>
            </a:pathLst>
          </a:custGeom>
          <a:noFill/>
          <a:ln w="126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2700000" y="4464000"/>
            <a:ext cx="180000" cy="504000"/>
          </a:xfrm>
          <a:custGeom>
            <a:avLst/>
            <a:gdLst/>
            <a:ahLst/>
            <a:cxnLst/>
            <a:rect l="l" t="t" r="r" b="b"/>
            <a:pathLst>
              <a:path w="502" h="1401" extrusionOk="0">
                <a:moveTo>
                  <a:pt x="0" y="0"/>
                </a:moveTo>
                <a:cubicBezTo>
                  <a:pt x="125" y="0"/>
                  <a:pt x="250" y="22"/>
                  <a:pt x="250" y="44"/>
                </a:cubicBezTo>
                <a:lnTo>
                  <a:pt x="250" y="631"/>
                </a:lnTo>
                <a:cubicBezTo>
                  <a:pt x="250" y="654"/>
                  <a:pt x="375" y="676"/>
                  <a:pt x="501" y="676"/>
                </a:cubicBezTo>
                <a:cubicBezTo>
                  <a:pt x="375" y="676"/>
                  <a:pt x="250" y="699"/>
                  <a:pt x="250" y="721"/>
                </a:cubicBezTo>
                <a:lnTo>
                  <a:pt x="250" y="1356"/>
                </a:lnTo>
                <a:cubicBezTo>
                  <a:pt x="250" y="1378"/>
                  <a:pt x="125" y="1400"/>
                  <a:pt x="0" y="1400"/>
                </a:cubicBezTo>
              </a:path>
            </a:pathLst>
          </a:custGeom>
          <a:noFill/>
          <a:ln w="126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2700000" y="5004000"/>
            <a:ext cx="180000" cy="504000"/>
          </a:xfrm>
          <a:custGeom>
            <a:avLst/>
            <a:gdLst/>
            <a:ahLst/>
            <a:cxnLst/>
            <a:rect l="l" t="t" r="r" b="b"/>
            <a:pathLst>
              <a:path w="502" h="1401" extrusionOk="0">
                <a:moveTo>
                  <a:pt x="0" y="0"/>
                </a:moveTo>
                <a:cubicBezTo>
                  <a:pt x="125" y="0"/>
                  <a:pt x="250" y="22"/>
                  <a:pt x="250" y="44"/>
                </a:cubicBezTo>
                <a:lnTo>
                  <a:pt x="250" y="631"/>
                </a:lnTo>
                <a:cubicBezTo>
                  <a:pt x="250" y="654"/>
                  <a:pt x="375" y="676"/>
                  <a:pt x="501" y="676"/>
                </a:cubicBezTo>
                <a:cubicBezTo>
                  <a:pt x="375" y="676"/>
                  <a:pt x="250" y="699"/>
                  <a:pt x="250" y="721"/>
                </a:cubicBezTo>
                <a:lnTo>
                  <a:pt x="250" y="1356"/>
                </a:lnTo>
                <a:cubicBezTo>
                  <a:pt x="250" y="1378"/>
                  <a:pt x="125" y="1400"/>
                  <a:pt x="0" y="1400"/>
                </a:cubicBezTo>
              </a:path>
            </a:pathLst>
          </a:custGeom>
          <a:noFill/>
          <a:ln w="126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3060000" y="1800000"/>
            <a:ext cx="3240000" cy="360000"/>
          </a:xfrm>
          <a:prstGeom prst="rect">
            <a:avLst/>
          </a:prstGeom>
          <a:solidFill>
            <a:srgbClr val="150145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Que no puede hacer (se carga por defecto en cada sesión)</a:t>
            </a: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069720" y="2491560"/>
            <a:ext cx="3240000" cy="1080000"/>
          </a:xfrm>
          <a:prstGeom prst="rect">
            <a:avLst/>
          </a:prstGeom>
          <a:solidFill>
            <a:srgbClr val="150145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Cargan solo cuando aplica:</a:t>
            </a: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lang="es-ES" sz="1200" b="0" strike="noStrik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Skill</a:t>
            </a:r>
            <a:r>
              <a:rPr lang="es-ES" sz="12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: Como debe ejecutarse una tarea</a:t>
            </a: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lang="es-ES" sz="12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Referencias: Conocimiento a consultar</a:t>
            </a: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069720" y="3751560"/>
            <a:ext cx="3240000" cy="568440"/>
          </a:xfrm>
          <a:prstGeom prst="rect">
            <a:avLst/>
          </a:prstGeom>
          <a:solidFill>
            <a:srgbClr val="150145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Formatos de como presentar las vulnerabilidades que encuentre</a:t>
            </a: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069720" y="4392000"/>
            <a:ext cx="3240000" cy="568440"/>
          </a:xfrm>
          <a:prstGeom prst="rect">
            <a:avLst/>
          </a:prstGeom>
          <a:solidFill>
            <a:srgbClr val="150145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Disparadores manuales que se puede ejecutar el operador</a:t>
            </a: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060000" y="5011560"/>
            <a:ext cx="3240000" cy="568440"/>
          </a:xfrm>
          <a:prstGeom prst="rect">
            <a:avLst/>
          </a:prstGeom>
          <a:solidFill>
            <a:srgbClr val="150145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strike="noStrik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Sub agentes con funcionalidades especificas</a:t>
            </a:r>
            <a:endParaRPr sz="1200" b="0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6480000" y="1620000"/>
            <a:ext cx="37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Aprobaciones / Bloqueos humanas</a:t>
            </a:r>
            <a:endParaRPr sz="18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10800" y="0"/>
            <a:ext cx="1006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04. Configuración e Integración del MCP server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5400000" y="1440000"/>
            <a:ext cx="4680000" cy="44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Verificación de la configuración</a:t>
            </a:r>
            <a:endParaRPr sz="28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0" y="1174320"/>
            <a:ext cx="4680000" cy="44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Archivo reglas.md</a:t>
            </a:r>
            <a:endParaRPr sz="28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0" y="1620000"/>
            <a:ext cx="4680000" cy="37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80000" y="3240000"/>
            <a:ext cx="4140000" cy="24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80000" y="1885680"/>
            <a:ext cx="4140000" cy="135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0800" y="0"/>
            <a:ext cx="100692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05. Demostración de uso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800000"/>
            <a:ext cx="4329000" cy="287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0000" y="1980000"/>
            <a:ext cx="5400000" cy="279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4680000" y="1440000"/>
            <a:ext cx="4680000" cy="44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Ejecución del agente</a:t>
            </a:r>
            <a:endParaRPr sz="28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440" y="0"/>
            <a:ext cx="160956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1260000" y="720000"/>
            <a:ext cx="7200000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6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br>
              <a:rPr lang="es-ES" sz="1800"/>
            </a:br>
            <a:r>
              <a:rPr lang="es-ES" sz="31570" b="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157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0000" y="2520000"/>
            <a:ext cx="2340000" cy="23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6">
            <a:alphaModFix/>
          </a:blip>
          <a:srcRect l="20074" t="2705"/>
          <a:stretch/>
        </p:blipFill>
        <p:spPr>
          <a:xfrm>
            <a:off x="540000" y="2520000"/>
            <a:ext cx="2880000" cy="213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000" y="1060920"/>
            <a:ext cx="2880000" cy="289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7"/>
          <p:cNvPicPr preferRelativeResize="0"/>
          <p:nvPr/>
        </p:nvPicPr>
        <p:blipFill rotWithShape="1">
          <a:blip r:embed="rId4">
            <a:alphaModFix/>
          </a:blip>
          <a:srcRect b="25470"/>
          <a:stretch/>
        </p:blipFill>
        <p:spPr>
          <a:xfrm>
            <a:off x="3240000" y="900000"/>
            <a:ext cx="3240000" cy="34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/>
          <p:cNvSpPr/>
          <p:nvPr/>
        </p:nvSpPr>
        <p:spPr>
          <a:xfrm>
            <a:off x="6660000" y="3960000"/>
            <a:ext cx="2880000" cy="33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https://www.linkedin.com/in/johan-robles-benites/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6660000" y="5040000"/>
            <a:ext cx="196452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johanhrb@gmail.com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6660000" y="4680000"/>
            <a:ext cx="845280" cy="31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6660000" y="3643920"/>
            <a:ext cx="1014120" cy="31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20000" y="1260000"/>
            <a:ext cx="2160000" cy="21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Personalizado</PresentationFormat>
  <Paragraphs>117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Johan Henry Robles Benites</cp:lastModifiedBy>
  <cp:revision>1</cp:revision>
  <dcterms:modified xsi:type="dcterms:W3CDTF">2026-10-18T21:31:33Z</dcterms:modified>
</cp:coreProperties>
</file>